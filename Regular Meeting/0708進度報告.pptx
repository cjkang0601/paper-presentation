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1" r:id="rId4"/>
    <p:sldId id="258" r:id="rId5"/>
    <p:sldId id="273" r:id="rId6"/>
    <p:sldId id="260" r:id="rId7"/>
    <p:sldId id="268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7" autoAdjust="0"/>
    <p:restoredTop sz="93717" autoAdjust="0"/>
  </p:normalViewPr>
  <p:slideViewPr>
    <p:cSldViewPr snapToGrid="0">
      <p:cViewPr varScale="1">
        <p:scale>
          <a:sx n="77" d="100"/>
          <a:sy n="77" d="100"/>
        </p:scale>
        <p:origin x="816" y="62"/>
      </p:cViewPr>
      <p:guideLst/>
    </p:cSldViewPr>
  </p:slideViewPr>
  <p:outlineViewPr>
    <p:cViewPr>
      <p:scale>
        <a:sx n="33" d="100"/>
        <a:sy n="33" d="100"/>
      </p:scale>
      <p:origin x="0" y="-1236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成駿 康" userId="c4b930e7ee326d1d" providerId="LiveId" clId="{2F6A24DC-FBDA-4451-9E05-650522818401}"/>
    <pc:docChg chg="custSel delSld modSld">
      <pc:chgData name="成駿 康" userId="c4b930e7ee326d1d" providerId="LiveId" clId="{2F6A24DC-FBDA-4451-9E05-650522818401}" dt="2025-06-12T01:13:56.168" v="140" actId="20577"/>
      <pc:docMkLst>
        <pc:docMk/>
      </pc:docMkLst>
      <pc:sldChg chg="delSp modSp mod">
        <pc:chgData name="成駿 康" userId="c4b930e7ee326d1d" providerId="LiveId" clId="{2F6A24DC-FBDA-4451-9E05-650522818401}" dt="2025-06-12T00:32:31.166" v="85" actId="478"/>
        <pc:sldMkLst>
          <pc:docMk/>
          <pc:sldMk cId="2592129946" sldId="256"/>
        </pc:sldMkLst>
        <pc:spChg chg="mod">
          <ac:chgData name="成駿 康" userId="c4b930e7ee326d1d" providerId="LiveId" clId="{2F6A24DC-FBDA-4451-9E05-650522818401}" dt="2025-06-12T00:31:57.455" v="67" actId="2711"/>
          <ac:spMkLst>
            <pc:docMk/>
            <pc:sldMk cId="2592129946" sldId="256"/>
            <ac:spMk id="2" creationId="{00000000-0000-0000-0000-000000000000}"/>
          </ac:spMkLst>
        </pc:spChg>
      </pc:sldChg>
      <pc:sldChg chg="modSp mod">
        <pc:chgData name="成駿 康" userId="c4b930e7ee326d1d" providerId="LiveId" clId="{2F6A24DC-FBDA-4451-9E05-650522818401}" dt="2025-06-12T01:13:56.168" v="140" actId="20577"/>
        <pc:sldMkLst>
          <pc:docMk/>
          <pc:sldMk cId="1679776345" sldId="257"/>
        </pc:sldMkLst>
        <pc:spChg chg="mod">
          <ac:chgData name="成駿 康" userId="c4b930e7ee326d1d" providerId="LiveId" clId="{2F6A24DC-FBDA-4451-9E05-650522818401}" dt="2025-06-12T01:13:56.168" v="140" actId="20577"/>
          <ac:spMkLst>
            <pc:docMk/>
            <pc:sldMk cId="1679776345" sldId="257"/>
            <ac:spMk id="3" creationId="{1DCCCCD9-AB5C-C4AF-A04E-C399C56F0F15}"/>
          </ac:spMkLst>
        </pc:spChg>
      </pc:sldChg>
      <pc:sldChg chg="del">
        <pc:chgData name="成駿 康" userId="c4b930e7ee326d1d" providerId="LiveId" clId="{2F6A24DC-FBDA-4451-9E05-650522818401}" dt="2025-06-12T00:31:13.929" v="0" actId="47"/>
        <pc:sldMkLst>
          <pc:docMk/>
          <pc:sldMk cId="3459049573" sldId="259"/>
        </pc:sldMkLst>
      </pc:sldChg>
      <pc:sldChg chg="del">
        <pc:chgData name="成駿 康" userId="c4b930e7ee326d1d" providerId="LiveId" clId="{2F6A24DC-FBDA-4451-9E05-650522818401}" dt="2025-06-12T00:31:13.929" v="0" actId="47"/>
        <pc:sldMkLst>
          <pc:docMk/>
          <pc:sldMk cId="2812631517" sldId="261"/>
        </pc:sldMkLst>
      </pc:sldChg>
      <pc:sldChg chg="del">
        <pc:chgData name="成駿 康" userId="c4b930e7ee326d1d" providerId="LiveId" clId="{2F6A24DC-FBDA-4451-9E05-650522818401}" dt="2025-06-12T00:31:13.929" v="0" actId="47"/>
        <pc:sldMkLst>
          <pc:docMk/>
          <pc:sldMk cId="881389414" sldId="262"/>
        </pc:sldMkLst>
      </pc:sldChg>
      <pc:sldChg chg="del">
        <pc:chgData name="成駿 康" userId="c4b930e7ee326d1d" providerId="LiveId" clId="{2F6A24DC-FBDA-4451-9E05-650522818401}" dt="2025-06-12T00:31:13.929" v="0" actId="47"/>
        <pc:sldMkLst>
          <pc:docMk/>
          <pc:sldMk cId="748417456" sldId="263"/>
        </pc:sldMkLst>
      </pc:sldChg>
      <pc:sldChg chg="del">
        <pc:chgData name="成駿 康" userId="c4b930e7ee326d1d" providerId="LiveId" clId="{2F6A24DC-FBDA-4451-9E05-650522818401}" dt="2025-06-12T00:31:13.929" v="0" actId="47"/>
        <pc:sldMkLst>
          <pc:docMk/>
          <pc:sldMk cId="3656980503" sldId="264"/>
        </pc:sldMkLst>
      </pc:sldChg>
      <pc:sldChg chg="del">
        <pc:chgData name="成駿 康" userId="c4b930e7ee326d1d" providerId="LiveId" clId="{2F6A24DC-FBDA-4451-9E05-650522818401}" dt="2025-06-12T00:31:13.929" v="0" actId="47"/>
        <pc:sldMkLst>
          <pc:docMk/>
          <pc:sldMk cId="4285868506" sldId="265"/>
        </pc:sldMkLst>
      </pc:sldChg>
      <pc:sldChg chg="del">
        <pc:chgData name="成駿 康" userId="c4b930e7ee326d1d" providerId="LiveId" clId="{2F6A24DC-FBDA-4451-9E05-650522818401}" dt="2025-06-12T00:31:13.929" v="0" actId="47"/>
        <pc:sldMkLst>
          <pc:docMk/>
          <pc:sldMk cId="3198078124" sldId="266"/>
        </pc:sldMkLst>
      </pc:sldChg>
      <pc:sldChg chg="del">
        <pc:chgData name="成駿 康" userId="c4b930e7ee326d1d" providerId="LiveId" clId="{2F6A24DC-FBDA-4451-9E05-650522818401}" dt="2025-06-12T00:31:13.929" v="0" actId="47"/>
        <pc:sldMkLst>
          <pc:docMk/>
          <pc:sldMk cId="213912076" sldId="267"/>
        </pc:sldMkLst>
      </pc:sldChg>
      <pc:sldChg chg="del">
        <pc:chgData name="成駿 康" userId="c4b930e7ee326d1d" providerId="LiveId" clId="{2F6A24DC-FBDA-4451-9E05-650522818401}" dt="2025-06-12T00:31:13.929" v="0" actId="47"/>
        <pc:sldMkLst>
          <pc:docMk/>
          <pc:sldMk cId="901613994" sldId="270"/>
        </pc:sldMkLst>
      </pc:sldChg>
      <pc:sldChg chg="del">
        <pc:chgData name="成駿 康" userId="c4b930e7ee326d1d" providerId="LiveId" clId="{2F6A24DC-FBDA-4451-9E05-650522818401}" dt="2025-06-12T00:31:13.929" v="0" actId="47"/>
        <pc:sldMkLst>
          <pc:docMk/>
          <pc:sldMk cId="3780951152" sldId="272"/>
        </pc:sldMkLst>
      </pc:sldChg>
    </pc:docChg>
  </pc:docChgLst>
  <pc:docChgLst>
    <pc:chgData name="成駿 康" userId="c4b930e7ee326d1d" providerId="LiveId" clId="{C831F8D7-C0A4-4F81-B272-36CDEA4B3C00}"/>
    <pc:docChg chg="modSld">
      <pc:chgData name="成駿 康" userId="c4b930e7ee326d1d" providerId="LiveId" clId="{C831F8D7-C0A4-4F81-B272-36CDEA4B3C00}" dt="2025-07-07T03:39:09.332" v="1" actId="20577"/>
      <pc:docMkLst>
        <pc:docMk/>
      </pc:docMkLst>
      <pc:sldChg chg="modSp mod">
        <pc:chgData name="成駿 康" userId="c4b930e7ee326d1d" providerId="LiveId" clId="{C831F8D7-C0A4-4F81-B272-36CDEA4B3C00}" dt="2025-07-07T03:39:09.332" v="1" actId="20577"/>
        <pc:sldMkLst>
          <pc:docMk/>
          <pc:sldMk cId="2592129946" sldId="256"/>
        </pc:sldMkLst>
        <pc:spChg chg="mod">
          <ac:chgData name="成駿 康" userId="c4b930e7ee326d1d" providerId="LiveId" clId="{C831F8D7-C0A4-4F81-B272-36CDEA4B3C00}" dt="2025-07-07T03:39:09.332" v="1" actId="20577"/>
          <ac:spMkLst>
            <pc:docMk/>
            <pc:sldMk cId="2592129946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EFB73-E7B2-4251-B8A9-439F3F51E87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6313F-0C58-489B-96B9-06ED2A9904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647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首先，為什麼我們要研究社交媒體流行度預測 </a:t>
            </a:r>
            <a:r>
              <a:rPr lang="en-US" altLang="zh-TW" dirty="0"/>
              <a:t>(SMPP)</a:t>
            </a:r>
            <a:r>
              <a:rPr lang="zh-TW" altLang="en-US" dirty="0"/>
              <a:t>？因為社交媒體上的內容哪個會紅、哪個會沉，直接影響到資訊的傳播方式、平台的推薦效果、廣告收益，甚至輿情的走向 。它的核心任務，簡單來說，就是預測一個用戶在某個時間點發布的內容，未來能獲得多少關注度，比如觀看數或按讚數 。   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r>
              <a:rPr lang="zh-TW" altLang="en-US" dirty="0"/>
              <a:t>這個任務其實非常挑戰。我們可以參考像 </a:t>
            </a:r>
            <a:r>
              <a:rPr lang="en-US" altLang="zh-TW" dirty="0"/>
              <a:t>SMP Challenge </a:t>
            </a:r>
            <a:r>
              <a:rPr lang="zh-TW" altLang="en-US" dirty="0"/>
              <a:t>這樣的學術競賽和他們發布的 </a:t>
            </a:r>
            <a:r>
              <a:rPr lang="en-US" altLang="zh-TW" dirty="0"/>
              <a:t>SMPD </a:t>
            </a:r>
            <a:r>
              <a:rPr lang="zh-TW" altLang="en-US" dirty="0"/>
              <a:t>數據集 。這個數據集有將近 </a:t>
            </a:r>
            <a:r>
              <a:rPr lang="en-US" altLang="zh-TW" dirty="0"/>
              <a:t>50 </a:t>
            </a:r>
            <a:r>
              <a:rPr lang="zh-TW" altLang="en-US" dirty="0"/>
              <a:t>萬筆貼文、</a:t>
            </a:r>
            <a:r>
              <a:rPr lang="en-US" altLang="zh-TW" dirty="0"/>
              <a:t>7 </a:t>
            </a:r>
            <a:r>
              <a:rPr lang="zh-TW" altLang="en-US" dirty="0"/>
              <a:t>萬個用戶，每筆貼文都包含圖片、文字、標籤、時間地點、用戶信息等多模態數據 。要在這樣大規模、複雜且動態變化的數據中準確預測流行度，是非常困難的 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6313F-0C58-489B-96B9-06ED2A99044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2302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過去的方法有不少侷限性。很多模型只看單一的 </a:t>
            </a:r>
            <a:r>
              <a:rPr lang="en-US" altLang="zh-TW" dirty="0"/>
              <a:t>UGC </a:t>
            </a:r>
            <a:r>
              <a:rPr lang="zh-TW" altLang="en-US" dirty="0"/>
              <a:t>內容，把它當成一個孤立的事件來預測 。但實際上，一個貼文會不會紅，常常受到其他相關貼文、當時的熱點趨勢、甚至是平台演算法的影響 。   </a:t>
            </a:r>
          </a:p>
          <a:p>
            <a:pPr>
              <a:buNone/>
            </a:pPr>
            <a:r>
              <a:rPr lang="zh-TW" altLang="en-US" dirty="0"/>
              <a:t>有些方法嘗試用檢索的方式引入上下文，比如找相似的貼文 。但如果只是簡單地找圖片或文字相似的內容，很容易找到一堆看起來像、但用戶群體或流行原因完全不同的東西，這些反而會變成噪音，干擾預測 。   </a:t>
            </a:r>
          </a:p>
          <a:p>
            <a:r>
              <a:rPr lang="zh-TW" altLang="en-US" dirty="0"/>
              <a:t>因此，這篇論文的動機就是要解決這個問題：我們能不能設計一個更好的框架，既能利用檢索找到有用的上下文信息，又能聰明地把其中的噪音過濾掉，來提升多模態 </a:t>
            </a:r>
            <a:r>
              <a:rPr lang="en-US" altLang="zh-TW" dirty="0"/>
              <a:t>UGC </a:t>
            </a:r>
            <a:r>
              <a:rPr lang="zh-TW" altLang="en-US" dirty="0"/>
              <a:t>的流行度預測？這就是他們提出 </a:t>
            </a:r>
            <a:r>
              <a:rPr lang="en-US" altLang="zh-TW" dirty="0"/>
              <a:t>SKAPP </a:t>
            </a:r>
            <a:r>
              <a:rPr lang="zh-TW" altLang="en-US" dirty="0"/>
              <a:t>框架的原因。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6313F-0C58-489B-96B9-06ED2A99044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9907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在 </a:t>
            </a:r>
            <a:r>
              <a:rPr lang="en-US" altLang="zh-TW" dirty="0"/>
              <a:t>SKAPP </a:t>
            </a:r>
            <a:r>
              <a:rPr lang="zh-TW" altLang="en-US" dirty="0"/>
              <a:t>之前，</a:t>
            </a:r>
            <a:r>
              <a:rPr lang="en-US" altLang="zh-TW" dirty="0"/>
              <a:t>SMPP </a:t>
            </a:r>
            <a:r>
              <a:rPr lang="zh-TW" altLang="en-US" dirty="0"/>
              <a:t>領域的研究大概可以分為幾類。早期大家常用的是特徵工程，手動設計很多特徵，再用 </a:t>
            </a:r>
            <a:r>
              <a:rPr lang="en-US" altLang="zh-TW" dirty="0"/>
              <a:t>SVM </a:t>
            </a:r>
            <a:r>
              <a:rPr lang="zh-TW" altLang="en-US" dirty="0"/>
              <a:t>或 </a:t>
            </a:r>
            <a:r>
              <a:rPr lang="en-US" altLang="zh-TW" dirty="0" err="1"/>
              <a:t>XGBoost</a:t>
            </a:r>
            <a:r>
              <a:rPr lang="en-US" altLang="zh-TW" dirty="0"/>
              <a:t> </a:t>
            </a:r>
            <a:r>
              <a:rPr lang="zh-TW" altLang="en-US" dirty="0"/>
              <a:t>這種傳統機器學習模型來預測 。   </a:t>
            </a:r>
          </a:p>
          <a:p>
            <a:pPr>
              <a:buNone/>
            </a:pPr>
            <a:r>
              <a:rPr lang="zh-TW" altLang="en-US" dirty="0"/>
              <a:t>進入深度學習時代後，研究重點轉向了表示學習和多模態融合。大家開始用 </a:t>
            </a:r>
            <a:r>
              <a:rPr lang="en-US" altLang="zh-TW" dirty="0"/>
              <a:t>CNN </a:t>
            </a:r>
            <a:r>
              <a:rPr lang="zh-TW" altLang="en-US" dirty="0"/>
              <a:t>來提取圖像的視覺特徵 ，用 </a:t>
            </a:r>
            <a:r>
              <a:rPr lang="en-US" altLang="zh-TW" dirty="0"/>
              <a:t>RNN </a:t>
            </a:r>
            <a:r>
              <a:rPr lang="zh-TW" altLang="en-US" dirty="0"/>
              <a:t>或 </a:t>
            </a:r>
            <a:r>
              <a:rPr lang="en-US" altLang="zh-TW" dirty="0"/>
              <a:t>LSTM </a:t>
            </a:r>
            <a:r>
              <a:rPr lang="zh-TW" altLang="en-US" dirty="0"/>
              <a:t>來處理時間序列信息 ，特別是近幾年，</a:t>
            </a:r>
            <a:r>
              <a:rPr lang="en-US" altLang="zh-TW" dirty="0"/>
              <a:t>Attention </a:t>
            </a:r>
            <a:r>
              <a:rPr lang="zh-TW" altLang="en-US" dirty="0"/>
              <a:t>和 </a:t>
            </a:r>
            <a:r>
              <a:rPr lang="en-US" altLang="zh-TW" dirty="0"/>
              <a:t>Transformer </a:t>
            </a:r>
            <a:r>
              <a:rPr lang="zh-TW" altLang="en-US" dirty="0"/>
              <a:t>模型，比如 </a:t>
            </a:r>
            <a:r>
              <a:rPr lang="en-US" altLang="zh-TW" dirty="0"/>
              <a:t>BERT </a:t>
            </a:r>
            <a:r>
              <a:rPr lang="zh-TW" altLang="en-US" dirty="0"/>
              <a:t>或視覺 </a:t>
            </a:r>
            <a:r>
              <a:rPr lang="en-US" altLang="zh-TW" dirty="0"/>
              <a:t>Transformer</a:t>
            </a:r>
            <a:r>
              <a:rPr lang="zh-TW" altLang="en-US" dirty="0"/>
              <a:t>，被廣泛應用於提取更強大的文本和多模態特徵 。   </a:t>
            </a:r>
          </a:p>
          <a:p>
            <a:pPr>
              <a:buNone/>
            </a:pPr>
            <a:r>
              <a:rPr lang="zh-TW" altLang="en-US" dirty="0"/>
              <a:t>另外，也有研究使用 </a:t>
            </a:r>
            <a:r>
              <a:rPr lang="en-US" altLang="zh-TW" dirty="0"/>
              <a:t>GNN </a:t>
            </a:r>
            <a:r>
              <a:rPr lang="zh-TW" altLang="en-US" dirty="0"/>
              <a:t>來建模用戶間的社交關係或是信息的擴散結構 。   </a:t>
            </a:r>
          </a:p>
          <a:p>
            <a:pPr>
              <a:buNone/>
            </a:pPr>
            <a:r>
              <a:rPr lang="en-US" altLang="zh-TW" dirty="0"/>
              <a:t>SKAPP </a:t>
            </a:r>
            <a:r>
              <a:rPr lang="zh-TW" altLang="en-US" dirty="0"/>
              <a:t>所屬的檢索增強方法也是一個研究方向，代表性的有 </a:t>
            </a:r>
            <a:r>
              <a:rPr lang="en-US" altLang="zh-TW" dirty="0"/>
              <a:t>NIPA </a:t>
            </a:r>
            <a:r>
              <a:rPr lang="zh-TW" altLang="en-US" dirty="0"/>
              <a:t>和 </a:t>
            </a:r>
            <a:r>
              <a:rPr lang="en-US" altLang="zh-TW" dirty="0"/>
              <a:t>MMRA </a:t>
            </a:r>
            <a:r>
              <a:rPr lang="zh-TW" altLang="en-US" dirty="0"/>
              <a:t>。這類方法試圖通過檢索相似內容來輔助預測。   </a:t>
            </a:r>
          </a:p>
          <a:p>
            <a:r>
              <a:rPr lang="zh-TW" altLang="en-US" dirty="0"/>
              <a:t>那 </a:t>
            </a:r>
            <a:r>
              <a:rPr lang="en-US" altLang="zh-TW" dirty="0"/>
              <a:t>SKAPP </a:t>
            </a:r>
            <a:r>
              <a:rPr lang="zh-TW" altLang="en-US" dirty="0"/>
              <a:t>的不同之處在哪裡呢？它的核心創新在於兩點：第一，它提出了一種叫 </a:t>
            </a:r>
            <a:r>
              <a:rPr lang="en-US" altLang="zh-TW" dirty="0"/>
              <a:t>Meta Retriever </a:t>
            </a:r>
            <a:r>
              <a:rPr lang="zh-TW" altLang="en-US" dirty="0"/>
              <a:t>的方法，不僅看內容相似性，還把用戶、標籤等元數據整合進來，做更全面的檢索；第二，也是最重要的，它設計了一個叫 </a:t>
            </a:r>
            <a:r>
              <a:rPr lang="en-US" altLang="zh-TW" dirty="0"/>
              <a:t>Selective Refiner </a:t>
            </a:r>
            <a:r>
              <a:rPr lang="zh-TW" altLang="en-US" dirty="0"/>
              <a:t>的機制，用一個叫 </a:t>
            </a:r>
            <a:r>
              <a:rPr lang="en-US" altLang="zh-TW" dirty="0"/>
              <a:t>RRCP </a:t>
            </a:r>
            <a:r>
              <a:rPr lang="zh-TW" altLang="en-US" dirty="0"/>
              <a:t>的指標來評估檢索到的內容是不是真的對預測有幫助，把沒用的甚至有害的噪音過濾掉。這是它與先前工作的主要區別。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6313F-0C58-489B-96B9-06ED2A99044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389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8891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0617 </a:t>
            </a:r>
            <a:r>
              <a:rPr lang="en-US" altLang="zh-TW" sz="4000" b="1" dirty="0" err="1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ACVLab</a:t>
            </a:r>
            <a:br>
              <a:rPr lang="en-US" altLang="zh-TW" sz="4000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4000" b="1" dirty="0">
                <a:solidFill>
                  <a:srgbClr val="2B529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研究進度報告</a:t>
            </a:r>
            <a:r>
              <a:rPr lang="zh-TW" altLang="en-US" sz="4000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6000" b="1" i="0" dirty="0">
                <a:solidFill>
                  <a:srgbClr val="2B529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5161048"/>
            <a:ext cx="9144000" cy="1655762"/>
          </a:xfrm>
        </p:spPr>
        <p:txBody>
          <a:bodyPr/>
          <a:lstStyle/>
          <a:p>
            <a:r>
              <a:rPr lang="en-US" altLang="zh-TW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Presenter: Cheng-Jun</a:t>
            </a:r>
            <a:r>
              <a:rPr lang="zh-TW" altLang="en-US"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Kang</a:t>
            </a:r>
          </a:p>
          <a:p>
            <a:r>
              <a:rPr lang="en-US" altLang="zh-TW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Institute of Data Science, National Cheng Kung University</a:t>
            </a:r>
          </a:p>
          <a:p>
            <a:endParaRPr lang="zh-TW" altLang="en-US" b="1" dirty="0"/>
          </a:p>
        </p:txBody>
      </p:sp>
      <p:sp>
        <p:nvSpPr>
          <p:cNvPr id="9" name="AutoShape 4" descr="CVPR 2024">
            <a:extLst>
              <a:ext uri="{FF2B5EF4-FFF2-40B4-BE49-F238E27FC236}">
                <a16:creationId xmlns:a16="http://schemas.microsoft.com/office/drawing/2014/main" id="{E3DCBFBD-9D7E-BCD9-047E-91D730167C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01200" y="54386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E7008C-308F-6B28-B6DC-80290DFB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CCCCD9-AB5C-C4AF-A04E-C399C56F0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SMPD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Related work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Challenge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" action="ppaction://noaction"/>
              </a:rPr>
              <a:t>Methodology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" action="ppaction://noaction"/>
              </a:rPr>
              <a:t>Experiment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" action="ppaction://noaction"/>
              </a:rPr>
              <a:t>Conclusion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776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AB397-2DA9-6631-0581-A35636E66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B65546-5485-F822-76E1-5A4AB3AD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 Group (</a:t>
            </a:r>
            <a: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UESTC ICDM Lab</a:t>
            </a:r>
            <a:r>
              <a:rPr lang="en-US" altLang="zh-TW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View Xovee's full-sized avatar">
            <a:extLst>
              <a:ext uri="{FF2B5EF4-FFF2-40B4-BE49-F238E27FC236}">
                <a16:creationId xmlns:a16="http://schemas.microsoft.com/office/drawing/2014/main" id="{FB53DB49-AB8B-FE93-FE67-5C24685F48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919360" cy="191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E329B40-2C54-C156-64F0-288455B98475}"/>
              </a:ext>
            </a:extLst>
          </p:cNvPr>
          <p:cNvSpPr txBox="1"/>
          <p:nvPr/>
        </p:nvSpPr>
        <p:spPr>
          <a:xfrm>
            <a:off x="2757560" y="1690688"/>
            <a:ext cx="26600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i="0" u="none" strike="noStrike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Xovee</a:t>
            </a:r>
            <a:r>
              <a:rPr lang="en-US" altLang="zh-TW" sz="1800" b="1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</a:rPr>
              <a:t> Xu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Interest: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Social network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human-centered data mining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0526B08-957C-5F9A-5977-C36806074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024" y="1689728"/>
            <a:ext cx="1919361" cy="192128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2071FCF-2417-5C75-F82A-6670D33B11DC}"/>
              </a:ext>
            </a:extLst>
          </p:cNvPr>
          <p:cNvSpPr txBox="1"/>
          <p:nvPr/>
        </p:nvSpPr>
        <p:spPr>
          <a:xfrm>
            <a:off x="8030384" y="1689728"/>
            <a:ext cx="26600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</a:rPr>
              <a:t>Yifan Zhang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Interest: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Social network analysis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6A62BB0-BB53-E388-0F7E-498EFC433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207632"/>
            <a:ext cx="1919360" cy="191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0BDC0D6-ABDC-3602-C922-8D2D368C964F}"/>
              </a:ext>
            </a:extLst>
          </p:cNvPr>
          <p:cNvSpPr txBox="1"/>
          <p:nvPr/>
        </p:nvSpPr>
        <p:spPr>
          <a:xfrm>
            <a:off x="2757560" y="4207632"/>
            <a:ext cx="35842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</a:rPr>
              <a:t>Fan Zhou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Interest: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Trustworthy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Artifical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Spatial-Temporal Data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Foundation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Social Network Analysis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5108CC1-BCA7-9A2B-E3DC-2BBB43A86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6629" y="4208592"/>
            <a:ext cx="1363755" cy="191936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9B5390FE-FA6D-CA64-8F00-9AD042A3AE08}"/>
              </a:ext>
            </a:extLst>
          </p:cNvPr>
          <p:cNvSpPr txBox="1"/>
          <p:nvPr/>
        </p:nvSpPr>
        <p:spPr>
          <a:xfrm>
            <a:off x="8030382" y="4208592"/>
            <a:ext cx="41616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i="0" u="none" strike="noStrike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Jingkuan</a:t>
            </a:r>
            <a:r>
              <a:rPr lang="en-US" altLang="zh-TW" sz="1800" b="1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</a:rPr>
              <a:t> Song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Interest: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large-scale multimedia 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image/video 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image/video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understading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 using hashing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923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AF4AF-5F56-13BA-6533-2A78654A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3FB271-418E-9323-D030-7B08E15C9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Introduction</a:t>
            </a:r>
            <a:r>
              <a:rPr lang="zh-TW" altLang="en-US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TW" altLang="en-US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0FDB50A-622B-CB93-B305-51BA28C1E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07846" y="3775127"/>
            <a:ext cx="4874884" cy="1987817"/>
          </a:xfr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392F905D-AF62-BB02-0997-884E81C033A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社群媒體人氣預測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(SMPP)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的重要性 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資訊推薦系統、網絡流量管理、廣告投放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謠言與熱點事件檢測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輿情檢測與趨勢分析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7022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C11AD-8FD0-CB21-0C19-4FBDB2F1B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1F6F0C-8B23-308B-670A-211459E1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Introduction</a:t>
            </a:r>
            <a:r>
              <a:rPr lang="zh-TW" altLang="en-US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TW" altLang="en-US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DCDEAF00-B46E-73B0-4BBD-C15B5D73433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現有方法侷限性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將預測當作孤立過程，忽視了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UGC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用戶生成的內容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間的關聯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僅關注內容語意，未去考慮社交因素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社交關係、趨勢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檢索策略可能會帶入噪聲和不相關的資訊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A1DCE28-F91B-2804-4CD0-6860762A8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076" y="3429000"/>
            <a:ext cx="448184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0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AD5BF-EFB5-3989-2988-7CC9CF18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8B8FC0-0277-70F6-BBD9-2D32B9308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2B52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839E4-AF7C-3177-9EA4-1D3FFA662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主要方法分類：</a:t>
            </a:r>
            <a:endParaRPr lang="en-US" altLang="zh-TW" dirty="0"/>
          </a:p>
          <a:p>
            <a:r>
              <a:rPr lang="zh-TW" altLang="en-US" dirty="0"/>
              <a:t>特徵工程 </a:t>
            </a:r>
            <a:r>
              <a:rPr lang="en-US" altLang="zh-TW" dirty="0"/>
              <a:t>+ </a:t>
            </a:r>
            <a:r>
              <a:rPr lang="zh-TW" altLang="en-US" dirty="0"/>
              <a:t>傳統 </a:t>
            </a:r>
            <a:r>
              <a:rPr lang="en-US" altLang="zh-TW" dirty="0"/>
              <a:t>ML</a:t>
            </a:r>
            <a:r>
              <a:rPr lang="zh-TW" altLang="en-US" dirty="0"/>
              <a:t>： 早期的 </a:t>
            </a:r>
            <a:r>
              <a:rPr lang="en-US" altLang="zh-TW" dirty="0"/>
              <a:t>SVR, </a:t>
            </a:r>
            <a:r>
              <a:rPr lang="en-US" altLang="zh-TW" dirty="0" err="1"/>
              <a:t>XGBoost</a:t>
            </a:r>
            <a:r>
              <a:rPr lang="en-US" altLang="zh-TW" dirty="0"/>
              <a:t> </a:t>
            </a:r>
            <a:r>
              <a:rPr lang="zh-TW" altLang="en-US" dirty="0"/>
              <a:t>等 。   </a:t>
            </a:r>
            <a:endParaRPr lang="en-US" altLang="zh-TW" dirty="0"/>
          </a:p>
          <a:p>
            <a:r>
              <a:rPr lang="zh-TW" altLang="en-US" dirty="0"/>
              <a:t>深度學習 </a:t>
            </a:r>
            <a:r>
              <a:rPr lang="en-US" altLang="zh-TW" dirty="0"/>
              <a:t>(</a:t>
            </a:r>
            <a:r>
              <a:rPr lang="zh-TW" altLang="en-US" dirty="0"/>
              <a:t>表示學習 </a:t>
            </a:r>
            <a:r>
              <a:rPr lang="en-US" altLang="zh-TW" dirty="0"/>
              <a:t>&amp; </a:t>
            </a:r>
            <a:r>
              <a:rPr lang="zh-TW" altLang="en-US" dirty="0"/>
              <a:t>融合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en-US" altLang="zh-TW" dirty="0"/>
              <a:t>CNN (</a:t>
            </a:r>
            <a:r>
              <a:rPr lang="zh-TW" altLang="en-US" dirty="0"/>
              <a:t>視覺特徵提取</a:t>
            </a:r>
            <a:r>
              <a:rPr lang="en-US" altLang="zh-TW" dirty="0"/>
              <a:t>, e.g., </a:t>
            </a:r>
            <a:r>
              <a:rPr lang="en-US" altLang="zh-TW" dirty="0" err="1"/>
              <a:t>ResNet</a:t>
            </a:r>
            <a:r>
              <a:rPr lang="en-US" altLang="zh-TW" dirty="0"/>
              <a:t>) </a:t>
            </a:r>
            <a:r>
              <a:rPr lang="zh-TW" altLang="en-US" dirty="0"/>
              <a:t>。   </a:t>
            </a:r>
          </a:p>
          <a:p>
            <a:pPr lvl="1"/>
            <a:r>
              <a:rPr lang="en-US" altLang="zh-TW" dirty="0"/>
              <a:t>RNN/LSTM (</a:t>
            </a:r>
            <a:r>
              <a:rPr lang="zh-TW" altLang="en-US" dirty="0"/>
              <a:t>時序信息處理</a:t>
            </a:r>
            <a:r>
              <a:rPr lang="en-US" altLang="zh-TW" dirty="0"/>
              <a:t>) </a:t>
            </a:r>
            <a:r>
              <a:rPr lang="zh-TW" altLang="en-US" dirty="0"/>
              <a:t>。   </a:t>
            </a:r>
          </a:p>
          <a:p>
            <a:pPr lvl="1"/>
            <a:r>
              <a:rPr lang="en-US" altLang="zh-TW" dirty="0"/>
              <a:t>Attention/Transformer (</a:t>
            </a:r>
            <a:r>
              <a:rPr lang="zh-TW" altLang="en-US" dirty="0"/>
              <a:t>文本</a:t>
            </a:r>
            <a:r>
              <a:rPr lang="en-US" altLang="zh-TW" dirty="0"/>
              <a:t>/</a:t>
            </a:r>
            <a:r>
              <a:rPr lang="zh-TW" altLang="en-US" dirty="0"/>
              <a:t>多模態特徵</a:t>
            </a:r>
            <a:r>
              <a:rPr lang="en-US" altLang="zh-TW" dirty="0"/>
              <a:t>, e.g., BERT, </a:t>
            </a:r>
            <a:r>
              <a:rPr lang="en-US" altLang="zh-TW" dirty="0" err="1"/>
              <a:t>ViT</a:t>
            </a:r>
            <a:r>
              <a:rPr lang="en-US" altLang="zh-TW" dirty="0"/>
              <a:t>) </a:t>
            </a:r>
            <a:r>
              <a:rPr lang="zh-TW" altLang="en-US" dirty="0"/>
              <a:t>。   </a:t>
            </a:r>
          </a:p>
          <a:p>
            <a:pPr lvl="1"/>
            <a:r>
              <a:rPr lang="zh-TW" altLang="en-US" dirty="0"/>
              <a:t>圖神經網絡 </a:t>
            </a:r>
            <a:r>
              <a:rPr lang="en-US" altLang="zh-TW" dirty="0"/>
              <a:t>(GNN)</a:t>
            </a:r>
            <a:r>
              <a:rPr lang="zh-TW" altLang="en-US" dirty="0"/>
              <a:t>： 建模社交關係或擴散結構 。   </a:t>
            </a:r>
          </a:p>
          <a:p>
            <a:r>
              <a:rPr lang="zh-TW" altLang="en-US" dirty="0"/>
              <a:t>檢索增強方法： </a:t>
            </a:r>
            <a:r>
              <a:rPr lang="en-US" altLang="zh-TW" dirty="0"/>
              <a:t>NIPA, MMRA </a:t>
            </a:r>
            <a:r>
              <a:rPr lang="zh-TW" altLang="en-US" dirty="0"/>
              <a:t>。   </a:t>
            </a:r>
          </a:p>
          <a:p>
            <a:r>
              <a:rPr lang="en-US" altLang="zh-TW" dirty="0"/>
              <a:t>SKAPP </a:t>
            </a:r>
            <a:r>
              <a:rPr lang="zh-TW" altLang="en-US" dirty="0"/>
              <a:t>的定位： 屬於檢索增強方法，但其核心創新在於 </a:t>
            </a:r>
            <a:r>
              <a:rPr lang="en-US" altLang="zh-TW" dirty="0"/>
              <a:t>(1) </a:t>
            </a:r>
            <a:r>
              <a:rPr lang="zh-TW" altLang="en-US" dirty="0"/>
              <a:t>結合內容與元數據的 </a:t>
            </a:r>
            <a:r>
              <a:rPr lang="en-US" altLang="zh-TW" dirty="0"/>
              <a:t>Meta Retriever </a:t>
            </a:r>
            <a:r>
              <a:rPr lang="zh-TW" altLang="en-US" dirty="0"/>
              <a:t>和 </a:t>
            </a:r>
            <a:r>
              <a:rPr lang="en-US" altLang="zh-TW" dirty="0"/>
              <a:t>(2) </a:t>
            </a:r>
            <a:r>
              <a:rPr lang="zh-TW" altLang="en-US" dirty="0"/>
              <a:t>基於預測貢獻度進行篩選的 </a:t>
            </a:r>
            <a:r>
              <a:rPr lang="en-US" altLang="zh-TW" dirty="0"/>
              <a:t>Selective Refiner (RRCP)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744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AE72-B5E1-8969-D874-1B8409917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CDB6A6-C8FE-F952-793A-984BB5F8C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1253331"/>
            <a:ext cx="351749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6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</a:t>
            </a:r>
          </a:p>
          <a:p>
            <a:pPr marL="0" indent="0">
              <a:buNone/>
            </a:pPr>
            <a:r>
              <a:rPr lang="en-US" altLang="zh-TW" sz="6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</a:p>
          <a:p>
            <a:pPr marL="0" indent="0">
              <a:buNone/>
            </a:pPr>
            <a:r>
              <a:rPr lang="en-US" altLang="zh-TW" sz="6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</a:p>
          <a:p>
            <a:pPr marL="0" indent="0">
              <a:buNone/>
            </a:pPr>
            <a:r>
              <a:rPr lang="en-US" altLang="zh-TW" sz="6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endParaRPr lang="zh-TW" altLang="en-US" sz="66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F263440-7378-C25A-44D8-CC444FAFD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633" y="680101"/>
            <a:ext cx="5028867" cy="54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69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4738</TotalTime>
  <Words>931</Words>
  <Application>Microsoft Office PowerPoint</Application>
  <PresentationFormat>寬螢幕</PresentationFormat>
  <Paragraphs>72</Paragraphs>
  <Slides>7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標楷體</vt:lpstr>
      <vt:lpstr>Aptos</vt:lpstr>
      <vt:lpstr>Arial</vt:lpstr>
      <vt:lpstr>Calibri</vt:lpstr>
      <vt:lpstr>Calibri Light</vt:lpstr>
      <vt:lpstr>Times New Roman</vt:lpstr>
      <vt:lpstr>Office 佈景主題</vt:lpstr>
      <vt:lpstr>0617 ACVLab 研究進度報告  </vt:lpstr>
      <vt:lpstr>Outline</vt:lpstr>
      <vt:lpstr>Author Group (UESTC ICDM Lab)</vt:lpstr>
      <vt:lpstr>Short Introduction &amp; Background</vt:lpstr>
      <vt:lpstr>Short Introduction &amp; Background</vt:lpstr>
      <vt:lpstr>Related Work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康成駿</dc:creator>
  <cp:lastModifiedBy>成駿 康</cp:lastModifiedBy>
  <cp:revision>3</cp:revision>
  <dcterms:created xsi:type="dcterms:W3CDTF">2023-07-26T10:11:54Z</dcterms:created>
  <dcterms:modified xsi:type="dcterms:W3CDTF">2025-07-07T03:39:18Z</dcterms:modified>
</cp:coreProperties>
</file>